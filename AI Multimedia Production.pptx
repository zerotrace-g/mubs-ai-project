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Outfit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hyperlink" Target="https://suno.com/s/qDwlH90Th2yLLuAH" TargetMode="External"/><Relationship Id="rId10" Type="http://schemas.openxmlformats.org/officeDocument/2006/relationships/image" Target="../media/image16.svg"/><Relationship Id="rId4" Type="http://schemas.openxmlformats.org/officeDocument/2006/relationships/hyperlink" Target="https://app.heygen.com/videos/lebanon-the-land-of-civilizations-1a5a4ba342d84f96be9cd8775b941869" TargetMode="Externa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5130"/>
            <a:ext cx="5200650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AI-Powered Multimedia Production</a:t>
            </a:r>
            <a:endParaRPr dirty="0"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65211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Traditionally, producing a song, music video, and cover images requires multiple specialists, significant time, and a large budget.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28063"/>
            <a:ext cx="49530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project resolves that challenge by using AI tools to automate and heavily simplify the workflow.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478365"/>
            <a:ext cx="4953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result makes high-quality music production and stunning visual design.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90625" y="1524000"/>
            <a:ext cx="10429875" cy="114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Generative AI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Utilized to generate complete song lyrics, intricate music composition, conceptual cover images, and supporting video elements.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190625" y="3000077"/>
            <a:ext cx="104298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Natural Language Processing (NLP)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Processes complex user prompts, and writes lyrics and text content.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157285" y="5386151"/>
            <a:ext cx="10429875" cy="114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Computer Vision &amp; Image Gen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Translates abstract concepts into stunning cover art, generating cohesive visual assets required for the video timeline.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157286" y="4145982"/>
            <a:ext cx="104298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Audio Generation AI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Composes the underlying melody, synthesizes beat structures, and produces realistic vocal tracks.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8287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4364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03750"/>
            <a:ext cx="3619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839" y="4265490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FAFC"/>
                </a:solidFill>
                <a:latin typeface="Outfit"/>
                <a:sym typeface="Outfit"/>
              </a:rPr>
              <a:t>Core AI 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Approaches (</a:t>
            </a:r>
            <a:r>
              <a:rPr lang="en-US" sz="3600" b="1" dirty="0">
                <a:solidFill>
                  <a:srgbClr val="F8FAFC"/>
                </a:solidFill>
                <a:latin typeface="Outfit"/>
              </a:rPr>
              <a:t>Which AI types did I use?)</a:t>
            </a:r>
            <a:endParaRPr sz="3600" b="1" dirty="0">
              <a:solidFill>
                <a:srgbClr val="F8FAFC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9069" y="3176955"/>
            <a:ext cx="3429000" cy="297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76955"/>
            <a:ext cx="3429000" cy="297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5284" y="3176954"/>
            <a:ext cx="3429000" cy="2975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108445" y="3418743"/>
            <a:ext cx="197024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Nanobanana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769594" y="3990243"/>
            <a:ext cx="2647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Powers the generation of cover images and static visual assets, translating prompt concepts into rich artistic styles.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1740931" y="3418743"/>
            <a:ext cx="109013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Suno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AI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962025" y="3990243"/>
            <a:ext cx="26479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Drives the core music generation, simultaneously handling vocal rendering, instrumentation, and complete song structuring.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5500926" y="3418743"/>
            <a:ext cx="119014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HeyGen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4865809" y="3837842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Facilitates design editing, final cover layout adjustments, and sophisticated video assembly using generated assets.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1200" y="240982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1200" y="240982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63100" y="2257425"/>
            <a:ext cx="685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AI Tools &amp; Platforms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21780" y="2486025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1. Concept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886075"/>
            <a:ext cx="198879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 enters prompt, or conceptual idea for the song.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2786795" y="4238625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5CF6"/>
                </a:solidFill>
                <a:latin typeface="Outfit"/>
                <a:ea typeface="Outfit"/>
                <a:cs typeface="Outfit"/>
                <a:sym typeface="Outfit"/>
              </a:rPr>
              <a:t>2. Lyrics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836515" y="4638675"/>
            <a:ext cx="19887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NLP models interpret the theme to generate fitting lyrics.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5051810" y="2486025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3. Music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101530" y="2886075"/>
            <a:ext cx="19887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Audio AI composes the melody, beat, and renders the vocals.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316825" y="4238625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8B5CF6"/>
                </a:solidFill>
                <a:latin typeface="Outfit"/>
                <a:ea typeface="Outfit"/>
                <a:cs typeface="Outfit"/>
                <a:sym typeface="Outfit"/>
              </a:rPr>
              <a:t>4. Visuals (Video)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631560" y="2786062"/>
            <a:ext cx="198879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Image AI (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Nanobanana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creates custom cover art and supporting scene images.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9581841" y="2486025"/>
            <a:ext cx="20882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5. Visuals (images)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7424511" y="4623226"/>
            <a:ext cx="198879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Video tools (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HeyGen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generate a video based on the entered prompt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Content Creation Workflow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1451595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71661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981625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24664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0511656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raphic 19">
            <a:hlinkClick r:id="rId4"/>
            <a:extLst>
              <a:ext uri="{FF2B5EF4-FFF2-40B4-BE49-F238E27FC236}">
                <a16:creationId xmlns:a16="http://schemas.microsoft.com/office/drawing/2014/main" id="{315052B7-2451-4AE0-8AE3-693838B94870}"/>
              </a:ext>
            </a:extLst>
          </p:cNvPr>
          <p:cNvSpPr/>
          <p:nvPr/>
        </p:nvSpPr>
        <p:spPr>
          <a:xfrm>
            <a:off x="8024570" y="5648325"/>
            <a:ext cx="788670" cy="685800"/>
          </a:xfrm>
          <a:custGeom>
            <a:avLst/>
            <a:gdLst>
              <a:gd name="connsiteX0" fmla="*/ 227648 w 788670"/>
              <a:gd name="connsiteY0" fmla="*/ 247650 h 685800"/>
              <a:gd name="connsiteX1" fmla="*/ 776288 w 788670"/>
              <a:gd name="connsiteY1" fmla="*/ 150495 h 685800"/>
              <a:gd name="connsiteX2" fmla="*/ 749618 w 788670"/>
              <a:gd name="connsiteY2" fmla="*/ 0 h 685800"/>
              <a:gd name="connsiteX3" fmla="*/ 0 w 788670"/>
              <a:gd name="connsiteY3" fmla="*/ 133350 h 685800"/>
              <a:gd name="connsiteX4" fmla="*/ 24765 w 788670"/>
              <a:gd name="connsiteY4" fmla="*/ 273368 h 685800"/>
              <a:gd name="connsiteX5" fmla="*/ 26670 w 788670"/>
              <a:gd name="connsiteY5" fmla="*/ 647700 h 685800"/>
              <a:gd name="connsiteX6" fmla="*/ 64770 w 788670"/>
              <a:gd name="connsiteY6" fmla="*/ 685800 h 685800"/>
              <a:gd name="connsiteX7" fmla="*/ 750570 w 788670"/>
              <a:gd name="connsiteY7" fmla="*/ 685800 h 685800"/>
              <a:gd name="connsiteX8" fmla="*/ 788670 w 788670"/>
              <a:gd name="connsiteY8" fmla="*/ 647700 h 685800"/>
              <a:gd name="connsiteX9" fmla="*/ 788670 w 788670"/>
              <a:gd name="connsiteY9" fmla="*/ 247650 h 685800"/>
              <a:gd name="connsiteX10" fmla="*/ 227648 w 788670"/>
              <a:gd name="connsiteY10" fmla="*/ 247650 h 685800"/>
              <a:gd name="connsiteX11" fmla="*/ 655320 w 788670"/>
              <a:gd name="connsiteY11" fmla="*/ 55245 h 685800"/>
              <a:gd name="connsiteX12" fmla="*/ 719138 w 788670"/>
              <a:gd name="connsiteY12" fmla="*/ 43815 h 685800"/>
              <a:gd name="connsiteX13" fmla="*/ 721043 w 788670"/>
              <a:gd name="connsiteY13" fmla="*/ 55245 h 685800"/>
              <a:gd name="connsiteX14" fmla="*/ 668655 w 788670"/>
              <a:gd name="connsiteY14" fmla="*/ 129540 h 685800"/>
              <a:gd name="connsiteX15" fmla="*/ 594360 w 788670"/>
              <a:gd name="connsiteY15" fmla="*/ 143828 h 685800"/>
              <a:gd name="connsiteX16" fmla="*/ 655320 w 788670"/>
              <a:gd name="connsiteY16" fmla="*/ 55245 h 685800"/>
              <a:gd name="connsiteX17" fmla="*/ 501015 w 788670"/>
              <a:gd name="connsiteY17" fmla="*/ 82868 h 685800"/>
              <a:gd name="connsiteX18" fmla="*/ 576263 w 788670"/>
              <a:gd name="connsiteY18" fmla="*/ 69532 h 685800"/>
              <a:gd name="connsiteX19" fmla="*/ 514350 w 788670"/>
              <a:gd name="connsiteY19" fmla="*/ 158115 h 685800"/>
              <a:gd name="connsiteX20" fmla="*/ 439103 w 788670"/>
              <a:gd name="connsiteY20" fmla="*/ 171450 h 685800"/>
              <a:gd name="connsiteX21" fmla="*/ 501015 w 788670"/>
              <a:gd name="connsiteY21" fmla="*/ 82868 h 685800"/>
              <a:gd name="connsiteX22" fmla="*/ 345758 w 788670"/>
              <a:gd name="connsiteY22" fmla="*/ 110490 h 685800"/>
              <a:gd name="connsiteX23" fmla="*/ 421005 w 788670"/>
              <a:gd name="connsiteY23" fmla="*/ 97155 h 685800"/>
              <a:gd name="connsiteX24" fmla="*/ 359093 w 788670"/>
              <a:gd name="connsiteY24" fmla="*/ 185738 h 685800"/>
              <a:gd name="connsiteX25" fmla="*/ 283845 w 788670"/>
              <a:gd name="connsiteY25" fmla="*/ 199073 h 685800"/>
              <a:gd name="connsiteX26" fmla="*/ 345758 w 788670"/>
              <a:gd name="connsiteY26" fmla="*/ 110490 h 685800"/>
              <a:gd name="connsiteX27" fmla="*/ 191453 w 788670"/>
              <a:gd name="connsiteY27" fmla="*/ 138113 h 685800"/>
              <a:gd name="connsiteX28" fmla="*/ 266700 w 788670"/>
              <a:gd name="connsiteY28" fmla="*/ 124778 h 685800"/>
              <a:gd name="connsiteX29" fmla="*/ 204788 w 788670"/>
              <a:gd name="connsiteY29" fmla="*/ 213360 h 685800"/>
              <a:gd name="connsiteX30" fmla="*/ 129540 w 788670"/>
              <a:gd name="connsiteY30" fmla="*/ 226695 h 685800"/>
              <a:gd name="connsiteX31" fmla="*/ 191453 w 788670"/>
              <a:gd name="connsiteY31" fmla="*/ 138113 h 685800"/>
              <a:gd name="connsiteX32" fmla="*/ 111442 w 788670"/>
              <a:gd name="connsiteY32" fmla="*/ 152400 h 685800"/>
              <a:gd name="connsiteX33" fmla="*/ 56198 w 788670"/>
              <a:gd name="connsiteY33" fmla="*/ 231458 h 685800"/>
              <a:gd name="connsiteX34" fmla="*/ 43815 w 788670"/>
              <a:gd name="connsiteY34" fmla="*/ 163830 h 685800"/>
              <a:gd name="connsiteX35" fmla="*/ 111442 w 788670"/>
              <a:gd name="connsiteY35" fmla="*/ 152400 h 685800"/>
              <a:gd name="connsiteX36" fmla="*/ 636270 w 788670"/>
              <a:gd name="connsiteY36" fmla="*/ 485775 h 685800"/>
              <a:gd name="connsiteX37" fmla="*/ 179070 w 788670"/>
              <a:gd name="connsiteY37" fmla="*/ 485775 h 685800"/>
              <a:gd name="connsiteX38" fmla="*/ 179070 w 788670"/>
              <a:gd name="connsiteY38" fmla="*/ 371475 h 685800"/>
              <a:gd name="connsiteX39" fmla="*/ 636270 w 788670"/>
              <a:gd name="connsiteY39" fmla="*/ 371475 h 685800"/>
              <a:gd name="connsiteX40" fmla="*/ 636270 w 788670"/>
              <a:gd name="connsiteY40" fmla="*/ 48577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88670" h="685800">
                <a:moveTo>
                  <a:pt x="227648" y="247650"/>
                </a:moveTo>
                <a:lnTo>
                  <a:pt x="776288" y="150495"/>
                </a:lnTo>
                <a:lnTo>
                  <a:pt x="749618" y="0"/>
                </a:lnTo>
                <a:lnTo>
                  <a:pt x="0" y="133350"/>
                </a:lnTo>
                <a:lnTo>
                  <a:pt x="24765" y="273368"/>
                </a:lnTo>
                <a:lnTo>
                  <a:pt x="26670" y="647700"/>
                </a:lnTo>
                <a:cubicBezTo>
                  <a:pt x="26670" y="668655"/>
                  <a:pt x="43815" y="685800"/>
                  <a:pt x="64770" y="685800"/>
                </a:cubicBezTo>
                <a:lnTo>
                  <a:pt x="750570" y="685800"/>
                </a:lnTo>
                <a:cubicBezTo>
                  <a:pt x="771525" y="685800"/>
                  <a:pt x="788670" y="668655"/>
                  <a:pt x="788670" y="647700"/>
                </a:cubicBezTo>
                <a:lnTo>
                  <a:pt x="788670" y="247650"/>
                </a:lnTo>
                <a:lnTo>
                  <a:pt x="227648" y="247650"/>
                </a:lnTo>
                <a:close/>
                <a:moveTo>
                  <a:pt x="655320" y="55245"/>
                </a:moveTo>
                <a:lnTo>
                  <a:pt x="719138" y="43815"/>
                </a:lnTo>
                <a:lnTo>
                  <a:pt x="721043" y="55245"/>
                </a:lnTo>
                <a:lnTo>
                  <a:pt x="668655" y="129540"/>
                </a:lnTo>
                <a:lnTo>
                  <a:pt x="594360" y="143828"/>
                </a:lnTo>
                <a:lnTo>
                  <a:pt x="655320" y="55245"/>
                </a:lnTo>
                <a:close/>
                <a:moveTo>
                  <a:pt x="501015" y="82868"/>
                </a:moveTo>
                <a:lnTo>
                  <a:pt x="576263" y="69532"/>
                </a:lnTo>
                <a:lnTo>
                  <a:pt x="514350" y="158115"/>
                </a:lnTo>
                <a:lnTo>
                  <a:pt x="439103" y="171450"/>
                </a:lnTo>
                <a:lnTo>
                  <a:pt x="501015" y="82868"/>
                </a:lnTo>
                <a:close/>
                <a:moveTo>
                  <a:pt x="345758" y="110490"/>
                </a:moveTo>
                <a:lnTo>
                  <a:pt x="421005" y="97155"/>
                </a:lnTo>
                <a:lnTo>
                  <a:pt x="359093" y="185738"/>
                </a:lnTo>
                <a:lnTo>
                  <a:pt x="283845" y="199073"/>
                </a:lnTo>
                <a:lnTo>
                  <a:pt x="345758" y="110490"/>
                </a:lnTo>
                <a:close/>
                <a:moveTo>
                  <a:pt x="191453" y="138113"/>
                </a:moveTo>
                <a:lnTo>
                  <a:pt x="266700" y="124778"/>
                </a:lnTo>
                <a:lnTo>
                  <a:pt x="204788" y="213360"/>
                </a:lnTo>
                <a:lnTo>
                  <a:pt x="129540" y="226695"/>
                </a:lnTo>
                <a:lnTo>
                  <a:pt x="191453" y="138113"/>
                </a:lnTo>
                <a:close/>
                <a:moveTo>
                  <a:pt x="111442" y="152400"/>
                </a:moveTo>
                <a:lnTo>
                  <a:pt x="56198" y="231458"/>
                </a:lnTo>
                <a:lnTo>
                  <a:pt x="43815" y="163830"/>
                </a:lnTo>
                <a:lnTo>
                  <a:pt x="111442" y="152400"/>
                </a:lnTo>
                <a:close/>
                <a:moveTo>
                  <a:pt x="636270" y="485775"/>
                </a:moveTo>
                <a:lnTo>
                  <a:pt x="179070" y="485775"/>
                </a:lnTo>
                <a:lnTo>
                  <a:pt x="179070" y="371475"/>
                </a:lnTo>
                <a:lnTo>
                  <a:pt x="636270" y="371475"/>
                </a:lnTo>
                <a:lnTo>
                  <a:pt x="636270" y="485775"/>
                </a:lnTo>
                <a:close/>
              </a:path>
            </a:pathLst>
          </a:custGeom>
          <a:solidFill>
            <a:srgbClr val="000000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2" name="Graphic 21" descr="Music notes with solid fill">
            <a:hlinkClick r:id="rId5"/>
            <a:extLst>
              <a:ext uri="{FF2B5EF4-FFF2-40B4-BE49-F238E27FC236}">
                <a16:creationId xmlns:a16="http://schemas.microsoft.com/office/drawing/2014/main" id="{C0672FD5-22CE-4274-A2B7-2B08E01F78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724" y="1524000"/>
            <a:ext cx="914400" cy="914400"/>
          </a:xfrm>
          <a:prstGeom prst="rect">
            <a:avLst/>
          </a:prstGeom>
        </p:spPr>
      </p:pic>
      <p:pic>
        <p:nvPicPr>
          <p:cNvPr id="23" name="Graphic 22" descr="Camera with solid fill">
            <a:hlinkClick r:id="rId8" action="ppaction://hlinksldjump"/>
            <a:extLst>
              <a:ext uri="{FF2B5EF4-FFF2-40B4-BE49-F238E27FC236}">
                <a16:creationId xmlns:a16="http://schemas.microsoft.com/office/drawing/2014/main" id="{CF6695E1-BD6F-465E-9223-4F73B2C79C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8755" y="1541383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BA3E-D21F-4192-B8BC-43320AB42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613F8-7DDE-4C4C-B2E9-73C31768D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F9979-A073-4BCC-AB77-2E0E8256B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6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00F8-A597-43D1-B255-9DB91E0BC4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87E1F-1BB5-4030-9261-184EE8AB5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3E67E-6FCF-4609-B58F-69245518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6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CDDC-2A26-4DB2-AFEC-547ADB513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1D0F6-4D88-4679-87D0-89DB93A07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61F71-9411-4708-B6EE-6A8AFF5A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308" y="1934308"/>
            <a:ext cx="4753707" cy="4313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6322" y="1934308"/>
            <a:ext cx="5122985" cy="431371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057275" y="2105025"/>
            <a:ext cx="45805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8B5CF6"/>
                </a:solidFill>
                <a:latin typeface="Outfit"/>
                <a:ea typeface="Outfit"/>
                <a:cs typeface="Outfit"/>
                <a:sym typeface="Outfit"/>
              </a:rPr>
              <a:t>Risks &amp; Concerns</a:t>
            </a:r>
            <a:endParaRPr sz="1200" dirty="0"/>
          </a:p>
        </p:txBody>
      </p:sp>
      <p:sp>
        <p:nvSpPr>
          <p:cNvPr id="152" name="Google Shape;152;p17"/>
          <p:cNvSpPr/>
          <p:nvPr/>
        </p:nvSpPr>
        <p:spPr>
          <a:xfrm>
            <a:off x="1057275" y="2705100"/>
            <a:ext cx="4362450" cy="190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772275" y="2105025"/>
            <a:ext cx="45805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Outfit"/>
                <a:ea typeface="Outfit"/>
                <a:cs typeface="Outfit"/>
                <a:sym typeface="Outfit"/>
              </a:rPr>
              <a:t>Positive Impact</a:t>
            </a:r>
            <a:endParaRPr sz="1200"/>
          </a:p>
        </p:txBody>
      </p:sp>
      <p:sp>
        <p:nvSpPr>
          <p:cNvPr id="154" name="Google Shape;154;p17"/>
          <p:cNvSpPr/>
          <p:nvPr/>
        </p:nvSpPr>
        <p:spPr>
          <a:xfrm>
            <a:off x="6772275" y="2705100"/>
            <a:ext cx="43624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343025" y="3009900"/>
            <a:ext cx="4076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Copyright Issues: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AI-generated music or visuals may resemble to existing protected works.</a:t>
            </a:r>
            <a:endParaRPr sz="1200"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1338995" y="3933634"/>
            <a:ext cx="4076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Authenticity: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Highly realistic AI media increasingly blurs the line between human-created and machine art.</a:t>
            </a:r>
            <a:endParaRPr sz="1200"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1353283" y="4780573"/>
            <a:ext cx="4076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Privacy: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Utilizing personal data or voice samples requires strict consent and secure handling.</a:t>
            </a:r>
            <a:endParaRPr sz="120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7058025" y="3009900"/>
            <a:ext cx="40767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Accessibility</a:t>
            </a:r>
            <a:endParaRPr sz="120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7058025" y="3840420"/>
            <a:ext cx="40767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 Efficiency</a:t>
            </a:r>
            <a:endParaRPr sz="1200"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7058025" y="4651890"/>
            <a:ext cx="4076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Allows independent creators to scale their output without needing massive studio resources.</a:t>
            </a:r>
            <a:endParaRPr sz="12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57275" y="299085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1057275" y="378745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1067533" y="4780572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6772275" y="299085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/>
          </a:p>
        </p:txBody>
      </p:sp>
      <p:sp>
        <p:nvSpPr>
          <p:cNvPr id="168" name="Google Shape;168;p17"/>
          <p:cNvSpPr txBox="1"/>
          <p:nvPr/>
        </p:nvSpPr>
        <p:spPr>
          <a:xfrm>
            <a:off x="6772275" y="382137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/>
          </a:p>
        </p:txBody>
      </p:sp>
      <p:sp>
        <p:nvSpPr>
          <p:cNvPr id="170" name="Google Shape;170;p17"/>
          <p:cNvSpPr txBox="1"/>
          <p:nvPr/>
        </p:nvSpPr>
        <p:spPr>
          <a:xfrm>
            <a:off x="6772275" y="4632840"/>
            <a:ext cx="1524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20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Ethical &amp; Social Impact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374</Words>
  <Application>Microsoft Office PowerPoint</Application>
  <PresentationFormat>Widescreen</PresentationFormat>
  <Paragraphs>42</Paragraphs>
  <Slides>8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Outfit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Georges</dc:creator>
  <cp:lastModifiedBy>Georges</cp:lastModifiedBy>
  <cp:revision>7</cp:revision>
  <dcterms:modified xsi:type="dcterms:W3CDTF">2026-05-17T15:56:08Z</dcterms:modified>
</cp:coreProperties>
</file>